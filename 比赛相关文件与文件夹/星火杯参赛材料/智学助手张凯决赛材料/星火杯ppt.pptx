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120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E6D1A-EBF7-4736-A3A3-35A3DA2360E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C424-972C-49E5-A14D-54FFCBAF7F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E6D1A-EBF7-4736-A3A3-35A3DA2360E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C424-972C-49E5-A14D-54FFCBAF7F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E6D1A-EBF7-4736-A3A3-35A3DA2360E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C424-972C-49E5-A14D-54FFCBAF7F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E6D1A-EBF7-4736-A3A3-35A3DA2360E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C424-972C-49E5-A14D-54FFCBAF7F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E6D1A-EBF7-4736-A3A3-35A3DA2360E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C424-972C-49E5-A14D-54FFCBAF7F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E6D1A-EBF7-4736-A3A3-35A3DA2360E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C424-972C-49E5-A14D-54FFCBAF7F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E6D1A-EBF7-4736-A3A3-35A3DA2360E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C424-972C-49E5-A14D-54FFCBAF7F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E6D1A-EBF7-4736-A3A3-35A3DA2360E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C424-972C-49E5-A14D-54FFCBAF7F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E6D1A-EBF7-4736-A3A3-35A3DA2360E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C424-972C-49E5-A14D-54FFCBAF7F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E6D1A-EBF7-4736-A3A3-35A3DA2360E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C424-972C-49E5-A14D-54FFCBAF7F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E6D1A-EBF7-4736-A3A3-35A3DA2360E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C424-972C-49E5-A14D-54FFCBAF7F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1E6D1A-EBF7-4736-A3A3-35A3DA2360E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B8C424-972C-49E5-A14D-54FFCBAF7F9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26.xml"/><Relationship Id="rId13" Type="http://schemas.openxmlformats.org/officeDocument/2006/relationships/tags" Target="../tags/tag25.xml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34.xml"/><Relationship Id="rId8" Type="http://schemas.openxmlformats.org/officeDocument/2006/relationships/tags" Target="../tags/tag33.xml"/><Relationship Id="rId7" Type="http://schemas.openxmlformats.org/officeDocument/2006/relationships/tags" Target="../tags/tag32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1" Type="http://schemas.openxmlformats.org/officeDocument/2006/relationships/notesSlide" Target="../notesSlides/notesSlide1.x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12800" y="1066800"/>
            <a:ext cx="4572000" cy="80021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5200" b="1">
                <a:solidFill>
                  <a:srgbClr val="081A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智学助手</a:t>
            </a:r>
            <a:endParaRPr lang="zh-CN" altLang="en-US" sz="5200" b="1">
              <a:solidFill>
                <a:srgbClr val="081A2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63600" y="2057400"/>
            <a:ext cx="5461000" cy="4305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>
                <a:solidFill>
                  <a:srgbClr val="0B4EA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高等代数导学系统</a:t>
            </a:r>
            <a:endParaRPr lang="zh-CN" altLang="en-US" sz="2800" b="1">
              <a:solidFill>
                <a:srgbClr val="0B4EA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38200" y="3149600"/>
            <a:ext cx="5410200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3800" b="1">
                <a:solidFill>
                  <a:srgbClr val="F59E0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每个学生教材页旁的</a:t>
            </a:r>
            <a:endParaRPr lang="zh-CN" altLang="en-US" sz="3800" b="1">
              <a:solidFill>
                <a:srgbClr val="F59E0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38200" y="3860800"/>
            <a:ext cx="33020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4800" b="1">
                <a:solidFill>
                  <a:srgbClr val="F59E0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AI </a:t>
            </a:r>
            <a:r>
              <a:rPr lang="zh-CN" altLang="en-US" sz="4800" b="1">
                <a:solidFill>
                  <a:srgbClr val="F59E0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助教</a:t>
            </a:r>
            <a:endParaRPr lang="zh-CN" altLang="en-US" sz="4800" b="1">
              <a:solidFill>
                <a:srgbClr val="F59E0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1" name="图片 10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829945"/>
            <a:ext cx="6478905" cy="52247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800" y="381000"/>
            <a:ext cx="3302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500" b="1">
                <a:solidFill>
                  <a:srgbClr val="0B4EA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01 </a:t>
            </a:r>
            <a:r>
              <a:rPr lang="zh-CN" altLang="en-US" sz="2500" b="1">
                <a:solidFill>
                  <a:srgbClr val="0B4EA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教育问题</a:t>
            </a:r>
            <a:endParaRPr lang="zh-CN" altLang="en-US" sz="2500" b="1">
              <a:solidFill>
                <a:srgbClr val="0B4EA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914400"/>
            <a:ext cx="10414000" cy="6000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3900" b="1">
                <a:solidFill>
                  <a:srgbClr val="081A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数学</a:t>
            </a:r>
            <a:r>
              <a:rPr lang="zh-CN" altLang="en-US" sz="3900" b="1">
                <a:solidFill>
                  <a:srgbClr val="081A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学习的难点在过程，不在答案</a:t>
            </a:r>
            <a:endParaRPr lang="zh-CN" altLang="en-US" sz="3900" b="1">
              <a:solidFill>
                <a:srgbClr val="081A2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: 圆角 4"/>
          <p:cNvSpPr/>
          <p:nvPr>
            <p:custDataLst>
              <p:tags r:id="rId1"/>
            </p:custDataLst>
          </p:nvPr>
        </p:nvSpPr>
        <p:spPr>
          <a:xfrm>
            <a:off x="787400" y="2260600"/>
            <a:ext cx="3302000" cy="218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7D7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787400" y="2260600"/>
            <a:ext cx="101600" cy="2184400"/>
          </a:xfrm>
          <a:prstGeom prst="rect">
            <a:avLst/>
          </a:prstGeom>
          <a:solidFill>
            <a:srgbClr val="EF44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1117600" y="2540000"/>
            <a:ext cx="2768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>
                <a:solidFill>
                  <a:srgbClr val="081A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卡点难定位</a:t>
            </a:r>
            <a:endParaRPr lang="zh-CN" altLang="en-US" sz="2800" b="1">
              <a:solidFill>
                <a:srgbClr val="081A2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1117600" y="3149600"/>
            <a:ext cx="27686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700">
                <a:solidFill>
                  <a:srgbClr val="29496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前置概念没补齐</a:t>
            </a:r>
            <a:endParaRPr lang="zh-CN" altLang="en-US" sz="2700">
              <a:solidFill>
                <a:srgbClr val="29496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700">
                <a:solidFill>
                  <a:srgbClr val="29496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证明步骤接不上</a:t>
            </a:r>
            <a:endParaRPr lang="zh-CN" altLang="en-US" sz="2700">
              <a:solidFill>
                <a:srgbClr val="29496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: 圆角 8"/>
          <p:cNvSpPr/>
          <p:nvPr>
            <p:custDataLst>
              <p:tags r:id="rId5"/>
            </p:custDataLst>
          </p:nvPr>
        </p:nvSpPr>
        <p:spPr>
          <a:xfrm>
            <a:off x="4445000" y="2260600"/>
            <a:ext cx="3302000" cy="218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7D7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>
            <p:custDataLst>
              <p:tags r:id="rId6"/>
            </p:custDataLst>
          </p:nvPr>
        </p:nvSpPr>
        <p:spPr>
          <a:xfrm>
            <a:off x="4445000" y="2260600"/>
            <a:ext cx="101600" cy="21844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7"/>
            </p:custDataLst>
          </p:nvPr>
        </p:nvSpPr>
        <p:spPr>
          <a:xfrm>
            <a:off x="4775200" y="2540000"/>
            <a:ext cx="2768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>
                <a:solidFill>
                  <a:srgbClr val="081A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跟进不连续</a:t>
            </a:r>
            <a:endParaRPr lang="zh-CN" altLang="en-US" sz="2800" b="1">
              <a:solidFill>
                <a:srgbClr val="081A2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8"/>
            </p:custDataLst>
          </p:nvPr>
        </p:nvSpPr>
        <p:spPr>
          <a:xfrm>
            <a:off x="4775200" y="3149600"/>
            <a:ext cx="2768600" cy="83058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700">
                <a:solidFill>
                  <a:srgbClr val="29496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课后答疑</a:t>
            </a:r>
            <a:r>
              <a:rPr lang="zh-CN" altLang="en-US" sz="2700">
                <a:solidFill>
                  <a:srgbClr val="29496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老师有限</a:t>
            </a:r>
            <a:endParaRPr lang="zh-CN" altLang="en-US" sz="2700">
              <a:solidFill>
                <a:srgbClr val="29496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700">
                <a:solidFill>
                  <a:srgbClr val="29496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有疑问难</a:t>
            </a:r>
            <a:r>
              <a:rPr lang="zh-CN" altLang="en-US" sz="2700">
                <a:solidFill>
                  <a:srgbClr val="29496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回答</a:t>
            </a:r>
            <a:endParaRPr lang="zh-CN" altLang="en-US" sz="2700">
              <a:solidFill>
                <a:srgbClr val="29496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矩形: 圆角 12"/>
          <p:cNvSpPr/>
          <p:nvPr>
            <p:custDataLst>
              <p:tags r:id="rId9"/>
            </p:custDataLst>
          </p:nvPr>
        </p:nvSpPr>
        <p:spPr>
          <a:xfrm>
            <a:off x="8102600" y="2260600"/>
            <a:ext cx="3302000" cy="218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7D7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>
            <p:custDataLst>
              <p:tags r:id="rId10"/>
            </p:custDataLst>
          </p:nvPr>
        </p:nvSpPr>
        <p:spPr>
          <a:xfrm>
            <a:off x="8102600" y="2260600"/>
            <a:ext cx="101600" cy="2184400"/>
          </a:xfrm>
          <a:prstGeom prst="rect">
            <a:avLst/>
          </a:prstGeom>
          <a:solidFill>
            <a:srgbClr val="0B4EA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1"/>
            </p:custDataLst>
          </p:nvPr>
        </p:nvSpPr>
        <p:spPr>
          <a:xfrm>
            <a:off x="8432800" y="2540000"/>
            <a:ext cx="2768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>
                <a:solidFill>
                  <a:srgbClr val="081A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脱离现场</a:t>
            </a:r>
            <a:endParaRPr lang="zh-CN" altLang="en-US" sz="2800" b="1">
              <a:solidFill>
                <a:srgbClr val="081A2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2"/>
            </p:custDataLst>
          </p:nvPr>
        </p:nvSpPr>
        <p:spPr>
          <a:xfrm>
            <a:off x="8432800" y="3149600"/>
            <a:ext cx="27686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700">
                <a:solidFill>
                  <a:srgbClr val="29496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只看问题文本</a:t>
            </a:r>
            <a:endParaRPr lang="zh-CN" altLang="en-US" sz="2700">
              <a:solidFill>
                <a:srgbClr val="29496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700">
                <a:solidFill>
                  <a:srgbClr val="29496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缺少教材语境</a:t>
            </a:r>
            <a:endParaRPr lang="zh-CN" altLang="en-US" sz="2700">
              <a:solidFill>
                <a:srgbClr val="29496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" name="矩形: 圆角 16"/>
          <p:cNvSpPr/>
          <p:nvPr/>
        </p:nvSpPr>
        <p:spPr>
          <a:xfrm>
            <a:off x="1803400" y="5334000"/>
            <a:ext cx="8585200" cy="78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CC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2235200" y="5562600"/>
            <a:ext cx="7721600" cy="41529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2700" b="1">
                <a:solidFill>
                  <a:srgbClr val="081A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目标：把一次性</a:t>
            </a:r>
            <a:r>
              <a:rPr lang="zh-CN" altLang="en-US" sz="2700" b="1">
                <a:solidFill>
                  <a:srgbClr val="081A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的答疑，变成可追踪的过程性导学</a:t>
            </a:r>
            <a:endParaRPr lang="zh-CN" altLang="en-US" sz="2700" b="1">
              <a:solidFill>
                <a:srgbClr val="081A2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800" y="381000"/>
            <a:ext cx="3302000" cy="3841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500" b="1">
                <a:solidFill>
                  <a:srgbClr val="0B4EA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02 </a:t>
            </a:r>
            <a:r>
              <a:rPr lang="zh-CN" altLang="en-US" sz="2500" b="1">
                <a:solidFill>
                  <a:srgbClr val="0B4EA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项目定位</a:t>
            </a:r>
            <a:endParaRPr lang="zh-CN" altLang="en-US" sz="2500" b="1">
              <a:solidFill>
                <a:srgbClr val="0B4EA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914400"/>
            <a:ext cx="10414000" cy="6000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3900" b="1">
                <a:solidFill>
                  <a:srgbClr val="081A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面向</a:t>
            </a:r>
            <a:r>
              <a:rPr lang="zh-CN" altLang="en-US" sz="3900" b="1">
                <a:solidFill>
                  <a:srgbClr val="081A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大学生的教育智能体</a:t>
            </a:r>
            <a:endParaRPr lang="zh-CN" altLang="en-US" sz="3900" b="1">
              <a:solidFill>
                <a:srgbClr val="081A2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: 圆角 4"/>
          <p:cNvSpPr/>
          <p:nvPr>
            <p:custDataLst>
              <p:tags r:id="rId1"/>
            </p:custDataLst>
          </p:nvPr>
        </p:nvSpPr>
        <p:spPr>
          <a:xfrm>
            <a:off x="990600" y="2311400"/>
            <a:ext cx="3149600" cy="2133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7D7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990600" y="2311400"/>
            <a:ext cx="101600" cy="2133600"/>
          </a:xfrm>
          <a:prstGeom prst="rect">
            <a:avLst/>
          </a:prstGeom>
          <a:solidFill>
            <a:srgbClr val="0B4EA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1320800" y="2590800"/>
            <a:ext cx="26162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>
                <a:solidFill>
                  <a:srgbClr val="081A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真实场景</a:t>
            </a:r>
            <a:endParaRPr lang="zh-CN" altLang="en-US" sz="2800" b="1">
              <a:solidFill>
                <a:srgbClr val="081A2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1320800" y="3200400"/>
            <a:ext cx="2616200" cy="124649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700">
                <a:solidFill>
                  <a:srgbClr val="29496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教材页、页码、框选区</a:t>
            </a:r>
            <a:endParaRPr lang="zh-CN" altLang="en-US" sz="2700">
              <a:solidFill>
                <a:srgbClr val="29496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700">
                <a:solidFill>
                  <a:srgbClr val="29496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组织学习现场</a:t>
            </a:r>
            <a:endParaRPr lang="zh-CN" altLang="en-US" sz="2700">
              <a:solidFill>
                <a:srgbClr val="29496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: 圆角 8"/>
          <p:cNvSpPr/>
          <p:nvPr>
            <p:custDataLst>
              <p:tags r:id="rId5"/>
            </p:custDataLst>
          </p:nvPr>
        </p:nvSpPr>
        <p:spPr>
          <a:xfrm>
            <a:off x="4521200" y="2311400"/>
            <a:ext cx="3149600" cy="2133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7D7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>
            <p:custDataLst>
              <p:tags r:id="rId6"/>
            </p:custDataLst>
          </p:nvPr>
        </p:nvSpPr>
        <p:spPr>
          <a:xfrm>
            <a:off x="4521200" y="2311400"/>
            <a:ext cx="101600" cy="21336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7"/>
            </p:custDataLst>
          </p:nvPr>
        </p:nvSpPr>
        <p:spPr>
          <a:xfrm>
            <a:off x="4851400" y="2590800"/>
            <a:ext cx="26162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>
                <a:solidFill>
                  <a:srgbClr val="081A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分步引导</a:t>
            </a:r>
            <a:endParaRPr lang="zh-CN" altLang="en-US" sz="2800" b="1">
              <a:solidFill>
                <a:srgbClr val="081A2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8"/>
            </p:custDataLst>
          </p:nvPr>
        </p:nvSpPr>
        <p:spPr>
          <a:xfrm>
            <a:off x="4851400" y="3200400"/>
            <a:ext cx="2616200" cy="12465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700">
                <a:solidFill>
                  <a:srgbClr val="29496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知识边界、学生画像、</a:t>
            </a:r>
            <a:r>
              <a:rPr lang="zh-CN" altLang="en-US" sz="2700">
                <a:solidFill>
                  <a:srgbClr val="29496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学习阶段</a:t>
            </a:r>
            <a:endParaRPr lang="zh-CN" altLang="en-US" sz="2700">
              <a:solidFill>
                <a:srgbClr val="29496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700">
                <a:solidFill>
                  <a:srgbClr val="29496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共同决定下一步</a:t>
            </a:r>
            <a:endParaRPr lang="zh-CN" altLang="en-US" sz="2700">
              <a:solidFill>
                <a:srgbClr val="29496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矩形: 圆角 12"/>
          <p:cNvSpPr/>
          <p:nvPr>
            <p:custDataLst>
              <p:tags r:id="rId9"/>
            </p:custDataLst>
          </p:nvPr>
        </p:nvSpPr>
        <p:spPr>
          <a:xfrm>
            <a:off x="8051800" y="2311400"/>
            <a:ext cx="3149600" cy="2133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7D7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>
            <p:custDataLst>
              <p:tags r:id="rId10"/>
            </p:custDataLst>
          </p:nvPr>
        </p:nvSpPr>
        <p:spPr>
          <a:xfrm>
            <a:off x="8051800" y="2311400"/>
            <a:ext cx="101600" cy="21336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1"/>
            </p:custDataLst>
          </p:nvPr>
        </p:nvSpPr>
        <p:spPr>
          <a:xfrm>
            <a:off x="8382000" y="2590800"/>
            <a:ext cx="26162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>
                <a:solidFill>
                  <a:srgbClr val="081A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学习闭环</a:t>
            </a:r>
            <a:endParaRPr lang="zh-CN" altLang="en-US" sz="2800" b="1">
              <a:solidFill>
                <a:srgbClr val="081A2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2"/>
            </p:custDataLst>
          </p:nvPr>
        </p:nvSpPr>
        <p:spPr>
          <a:xfrm>
            <a:off x="8382000" y="3200400"/>
            <a:ext cx="26162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700">
                <a:solidFill>
                  <a:srgbClr val="29496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答疑后继续练习</a:t>
            </a:r>
            <a:endParaRPr lang="zh-CN" altLang="en-US" sz="2700">
              <a:solidFill>
                <a:srgbClr val="29496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700">
                <a:solidFill>
                  <a:srgbClr val="29496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反馈回到画像</a:t>
            </a:r>
            <a:endParaRPr lang="zh-CN" altLang="en-US" sz="2700">
              <a:solidFill>
                <a:srgbClr val="29496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7" name="直接连接符 16"/>
          <p:cNvCxnSpPr/>
          <p:nvPr>
            <p:custDataLst>
              <p:tags r:id="rId13"/>
            </p:custDataLst>
          </p:nvPr>
        </p:nvCxnSpPr>
        <p:spPr>
          <a:xfrm>
            <a:off x="4140200" y="3378200"/>
            <a:ext cx="381000" cy="0"/>
          </a:xfrm>
          <a:prstGeom prst="line">
            <a:avLst/>
          </a:prstGeom>
          <a:ln w="30480">
            <a:solidFill>
              <a:srgbClr val="1677D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>
            <p:custDataLst>
              <p:tags r:id="rId14"/>
            </p:custDataLst>
          </p:nvPr>
        </p:nvCxnSpPr>
        <p:spPr>
          <a:xfrm>
            <a:off x="7670800" y="3378200"/>
            <a:ext cx="381000" cy="0"/>
          </a:xfrm>
          <a:prstGeom prst="line">
            <a:avLst/>
          </a:prstGeom>
          <a:ln w="30480">
            <a:solidFill>
              <a:srgbClr val="1677D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: 圆角 18"/>
          <p:cNvSpPr/>
          <p:nvPr/>
        </p:nvSpPr>
        <p:spPr>
          <a:xfrm>
            <a:off x="2032000" y="5283200"/>
            <a:ext cx="8128000" cy="736600"/>
          </a:xfrm>
          <a:prstGeom prst="roundRect">
            <a:avLst/>
          </a:prstGeom>
          <a:solidFill>
            <a:srgbClr val="FFF7D6"/>
          </a:solidFill>
          <a:ln w="19050">
            <a:solidFill>
              <a:srgbClr val="F6B7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2387600" y="5461000"/>
            <a:ext cx="74168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2200" b="1">
                <a:solidFill>
                  <a:srgbClr val="9A4B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教育智能体 </a:t>
            </a:r>
            <a:r>
              <a:rPr lang="en-US" altLang="zh-CN" sz="2200" b="1">
                <a:solidFill>
                  <a:srgbClr val="9A4B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 </a:t>
            </a:r>
            <a:r>
              <a:rPr lang="zh-CN" altLang="en-US" sz="2200" b="1">
                <a:solidFill>
                  <a:srgbClr val="9A4B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模型能力 </a:t>
            </a:r>
            <a:r>
              <a:rPr lang="en-US" altLang="zh-CN" sz="2200" b="1">
                <a:solidFill>
                  <a:srgbClr val="9A4B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 </a:t>
            </a:r>
            <a:r>
              <a:rPr lang="zh-CN" altLang="en-US" sz="2200" b="1">
                <a:solidFill>
                  <a:srgbClr val="9A4B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教学场景 </a:t>
            </a:r>
            <a:r>
              <a:rPr lang="en-US" altLang="zh-CN" sz="2200" b="1">
                <a:solidFill>
                  <a:srgbClr val="9A4B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 </a:t>
            </a:r>
            <a:r>
              <a:rPr lang="zh-CN" altLang="en-US" sz="2200" b="1">
                <a:solidFill>
                  <a:srgbClr val="9A4B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学习数据</a:t>
            </a:r>
            <a:endParaRPr lang="zh-CN" altLang="en-US" sz="2200" b="1">
              <a:solidFill>
                <a:srgbClr val="9A4B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800" y="381000"/>
            <a:ext cx="3302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500" b="1">
                <a:solidFill>
                  <a:srgbClr val="0B4EA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03 </a:t>
            </a:r>
            <a:r>
              <a:rPr lang="zh-CN" altLang="en-US" sz="2500" b="1">
                <a:solidFill>
                  <a:srgbClr val="0B4EA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使用流程</a:t>
            </a:r>
            <a:endParaRPr lang="zh-CN" altLang="en-US" sz="2500" b="1">
              <a:solidFill>
                <a:srgbClr val="0B4EA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914400"/>
            <a:ext cx="104140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3900" b="1">
                <a:solidFill>
                  <a:srgbClr val="081A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从我卡住了，到我会做了</a:t>
            </a:r>
            <a:endParaRPr lang="zh-CN" altLang="en-US" sz="3900" b="1">
              <a:solidFill>
                <a:srgbClr val="081A2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939800" y="2717800"/>
            <a:ext cx="1625600" cy="9652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7D7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104900" y="2959100"/>
            <a:ext cx="406400" cy="406400"/>
          </a:xfrm>
          <a:prstGeom prst="ellipse">
            <a:avLst/>
          </a:prstGeom>
          <a:solidFill>
            <a:srgbClr val="0B4EA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104900" y="3009900"/>
            <a:ext cx="406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  <a:endParaRPr lang="zh-CN" altLang="en-US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625600" y="2933700"/>
            <a:ext cx="7874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2200" b="1">
                <a:solidFill>
                  <a:srgbClr val="081A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打开</a:t>
            </a:r>
            <a:endParaRPr lang="zh-CN" altLang="en-US" sz="2200" b="1">
              <a:solidFill>
                <a:srgbClr val="081A2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2200" b="1">
                <a:solidFill>
                  <a:srgbClr val="081A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教材</a:t>
            </a:r>
            <a:endParaRPr lang="zh-CN" altLang="en-US" sz="2200" b="1">
              <a:solidFill>
                <a:srgbClr val="081A2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2565400" y="3200400"/>
            <a:ext cx="177800" cy="0"/>
          </a:xfrm>
          <a:prstGeom prst="line">
            <a:avLst/>
          </a:prstGeom>
          <a:ln w="25400">
            <a:solidFill>
              <a:srgbClr val="1677D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: 圆角 9"/>
          <p:cNvSpPr/>
          <p:nvPr/>
        </p:nvSpPr>
        <p:spPr>
          <a:xfrm>
            <a:off x="2743200" y="2717800"/>
            <a:ext cx="1625600" cy="9652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7D7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2908300" y="2959100"/>
            <a:ext cx="406400" cy="406400"/>
          </a:xfrm>
          <a:prstGeom prst="ellipse">
            <a:avLst/>
          </a:prstGeom>
          <a:solidFill>
            <a:srgbClr val="0B4EA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908300" y="3009900"/>
            <a:ext cx="406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b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  <a:endParaRPr lang="zh-CN" altLang="en-US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429000" y="2933700"/>
            <a:ext cx="7874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2200" b="1">
                <a:solidFill>
                  <a:srgbClr val="081A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框选</a:t>
            </a:r>
            <a:endParaRPr lang="zh-CN" altLang="en-US" sz="2200" b="1">
              <a:solidFill>
                <a:srgbClr val="081A2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2200" b="1">
                <a:solidFill>
                  <a:srgbClr val="081A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提问</a:t>
            </a:r>
            <a:endParaRPr lang="zh-CN" altLang="en-US" sz="2200" b="1">
              <a:solidFill>
                <a:srgbClr val="081A2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4368800" y="3200400"/>
            <a:ext cx="177800" cy="0"/>
          </a:xfrm>
          <a:prstGeom prst="line">
            <a:avLst/>
          </a:prstGeom>
          <a:ln w="25400">
            <a:solidFill>
              <a:srgbClr val="1677D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: 圆角 14"/>
          <p:cNvSpPr/>
          <p:nvPr/>
        </p:nvSpPr>
        <p:spPr>
          <a:xfrm>
            <a:off x="4546600" y="2717800"/>
            <a:ext cx="1625600" cy="9652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7D7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4711700" y="2959100"/>
            <a:ext cx="406400" cy="406400"/>
          </a:xfrm>
          <a:prstGeom prst="ellipse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4711700" y="3009900"/>
            <a:ext cx="406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b="1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  <a:endParaRPr lang="zh-CN" altLang="en-US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232400" y="2933700"/>
            <a:ext cx="7874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2200" b="1">
                <a:solidFill>
                  <a:srgbClr val="081A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分步</a:t>
            </a:r>
            <a:endParaRPr lang="zh-CN" altLang="en-US" sz="2200" b="1">
              <a:solidFill>
                <a:srgbClr val="081A2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2200" b="1">
                <a:solidFill>
                  <a:srgbClr val="081A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引导</a:t>
            </a:r>
            <a:endParaRPr lang="zh-CN" altLang="en-US" sz="2200" b="1">
              <a:solidFill>
                <a:srgbClr val="081A2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6172200" y="3200400"/>
            <a:ext cx="177800" cy="0"/>
          </a:xfrm>
          <a:prstGeom prst="line">
            <a:avLst/>
          </a:prstGeom>
          <a:ln w="25400">
            <a:solidFill>
              <a:srgbClr val="1677D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: 圆角 19"/>
          <p:cNvSpPr/>
          <p:nvPr/>
        </p:nvSpPr>
        <p:spPr>
          <a:xfrm>
            <a:off x="6350000" y="2717800"/>
            <a:ext cx="1625600" cy="9652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7D7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6515100" y="2959100"/>
            <a:ext cx="406400" cy="406400"/>
          </a:xfrm>
          <a:prstGeom prst="ellipse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6515100" y="3009900"/>
            <a:ext cx="406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b="1">
                <a:solidFill>
                  <a:srgbClr val="FFFFFF"/>
                </a:solidFill>
                <a:latin typeface="Arial" panose="020B0604020202020204" pitchFamily="34" charset="0"/>
              </a:rPr>
              <a:t>4</a:t>
            </a:r>
            <a:endParaRPr lang="zh-CN" altLang="en-US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035800" y="2933700"/>
            <a:ext cx="7874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2200" b="1">
                <a:solidFill>
                  <a:srgbClr val="081A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生成</a:t>
            </a:r>
            <a:endParaRPr lang="zh-CN" altLang="en-US" sz="2200" b="1">
              <a:solidFill>
                <a:srgbClr val="081A2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2200" b="1">
                <a:solidFill>
                  <a:srgbClr val="081A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徽标</a:t>
            </a:r>
            <a:endParaRPr lang="zh-CN" altLang="en-US" sz="2200" b="1">
              <a:solidFill>
                <a:srgbClr val="081A2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7975600" y="3200400"/>
            <a:ext cx="177800" cy="0"/>
          </a:xfrm>
          <a:prstGeom prst="line">
            <a:avLst/>
          </a:prstGeom>
          <a:ln w="25400">
            <a:solidFill>
              <a:srgbClr val="1677D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: 圆角 24"/>
          <p:cNvSpPr/>
          <p:nvPr/>
        </p:nvSpPr>
        <p:spPr>
          <a:xfrm>
            <a:off x="8153400" y="2717800"/>
            <a:ext cx="1625600" cy="9652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7D7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/>
          <p:cNvSpPr/>
          <p:nvPr/>
        </p:nvSpPr>
        <p:spPr>
          <a:xfrm>
            <a:off x="8318500" y="2959100"/>
            <a:ext cx="406400" cy="406400"/>
          </a:xfrm>
          <a:prstGeom prst="ellipse">
            <a:avLst/>
          </a:prstGeom>
          <a:solidFill>
            <a:srgbClr val="0B4EA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8318500" y="3009900"/>
            <a:ext cx="406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b="1">
                <a:solidFill>
                  <a:srgbClr val="FFFFFF"/>
                </a:solidFill>
                <a:latin typeface="Arial" panose="020B0604020202020204" pitchFamily="34" charset="0"/>
              </a:rPr>
              <a:t>5</a:t>
            </a:r>
            <a:endParaRPr lang="zh-CN" altLang="en-US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839200" y="2933700"/>
            <a:ext cx="7874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2200" b="1">
                <a:solidFill>
                  <a:srgbClr val="081A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按页</a:t>
            </a:r>
            <a:endParaRPr lang="zh-CN" altLang="en-US" sz="2200" b="1">
              <a:solidFill>
                <a:srgbClr val="081A2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2200" b="1">
                <a:solidFill>
                  <a:srgbClr val="081A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练习</a:t>
            </a:r>
            <a:endParaRPr lang="zh-CN" altLang="en-US" sz="2200" b="1">
              <a:solidFill>
                <a:srgbClr val="081A2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9779000" y="3200400"/>
            <a:ext cx="177800" cy="0"/>
          </a:xfrm>
          <a:prstGeom prst="line">
            <a:avLst/>
          </a:prstGeom>
          <a:ln w="25400">
            <a:solidFill>
              <a:srgbClr val="1677D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: 圆角 29"/>
          <p:cNvSpPr/>
          <p:nvPr/>
        </p:nvSpPr>
        <p:spPr>
          <a:xfrm>
            <a:off x="9956800" y="2717800"/>
            <a:ext cx="1625600" cy="9652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7D7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椭圆 30"/>
          <p:cNvSpPr/>
          <p:nvPr/>
        </p:nvSpPr>
        <p:spPr>
          <a:xfrm>
            <a:off x="10121900" y="2959100"/>
            <a:ext cx="406400" cy="406400"/>
          </a:xfrm>
          <a:prstGeom prst="ellipse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10121900" y="3009900"/>
            <a:ext cx="406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b="1">
                <a:solidFill>
                  <a:srgbClr val="FFFFFF"/>
                </a:solidFill>
                <a:latin typeface="Arial" panose="020B0604020202020204" pitchFamily="34" charset="0"/>
              </a:rPr>
              <a:t>6</a:t>
            </a:r>
            <a:endParaRPr lang="zh-CN" altLang="en-US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0642600" y="2933700"/>
            <a:ext cx="7874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2200" b="1">
                <a:solidFill>
                  <a:srgbClr val="081A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</a:t>
            </a:r>
            <a:endParaRPr lang="zh-CN" altLang="en-US" sz="2200" b="1">
              <a:solidFill>
                <a:srgbClr val="081A2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2200" b="1">
                <a:solidFill>
                  <a:srgbClr val="081A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更新</a:t>
            </a:r>
            <a:endParaRPr lang="zh-CN" altLang="en-US" sz="2200" b="1">
              <a:solidFill>
                <a:srgbClr val="081A2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4" name="矩形: 圆角 33"/>
          <p:cNvSpPr/>
          <p:nvPr/>
        </p:nvSpPr>
        <p:spPr>
          <a:xfrm>
            <a:off x="2082800" y="5130800"/>
            <a:ext cx="8026400" cy="812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CC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2235200" y="5359400"/>
            <a:ext cx="77216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2700" b="1">
                <a:solidFill>
                  <a:srgbClr val="081A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主线：先在教材页提问，再把问答留回教材页</a:t>
            </a:r>
            <a:endParaRPr lang="zh-CN" altLang="en-US" sz="2700" b="1">
              <a:solidFill>
                <a:srgbClr val="081A2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800" y="381000"/>
            <a:ext cx="3302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500" b="1">
                <a:solidFill>
                  <a:srgbClr val="0B4EA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04 </a:t>
            </a:r>
            <a:r>
              <a:rPr lang="zh-CN" altLang="en-US" sz="2500" b="1">
                <a:solidFill>
                  <a:srgbClr val="0B4EA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真实演示</a:t>
            </a:r>
            <a:endParaRPr lang="zh-CN" altLang="en-US" sz="2500" b="1">
              <a:solidFill>
                <a:srgbClr val="0B4EA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914400"/>
            <a:ext cx="104140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3900" b="1">
                <a:solidFill>
                  <a:srgbClr val="081A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点开徽标，问答回到教材页</a:t>
            </a:r>
            <a:endParaRPr lang="zh-CN" altLang="en-US" sz="3900" b="1">
              <a:solidFill>
                <a:srgbClr val="081A2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584200" y="1854200"/>
            <a:ext cx="7747000" cy="45212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9CC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2007394"/>
            <a:ext cx="7493000" cy="4214813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422400" y="6477000"/>
            <a:ext cx="6070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>
                <a:solidFill>
                  <a:srgbClr val="29496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kz </a:t>
            </a:r>
            <a:r>
              <a:rPr lang="zh-CN" altLang="en-US">
                <a:solidFill>
                  <a:srgbClr val="29496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实机页面：第</a:t>
            </a:r>
            <a:r>
              <a:rPr lang="en-US" altLang="zh-CN">
                <a:solidFill>
                  <a:srgbClr val="29496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87</a:t>
            </a:r>
            <a:r>
              <a:rPr lang="zh-CN" altLang="en-US">
                <a:solidFill>
                  <a:srgbClr val="29496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页徽标已打开，右侧展示当时问答</a:t>
            </a:r>
            <a:endParaRPr lang="zh-CN" altLang="en-US">
              <a:solidFill>
                <a:srgbClr val="29496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940800" y="1905000"/>
            <a:ext cx="2413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0B4EA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实机可见</a:t>
            </a:r>
            <a:endParaRPr lang="zh-CN" altLang="en-US" sz="2700" b="1">
              <a:solidFill>
                <a:srgbClr val="0B4EA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940800" y="2413000"/>
            <a:ext cx="2667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100">
                <a:solidFill>
                  <a:srgbClr val="29496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不是单独聊天窗口，点开徽标就回到当时问题。</a:t>
            </a:r>
            <a:endParaRPr lang="zh-CN" altLang="en-US" sz="2100">
              <a:solidFill>
                <a:srgbClr val="29496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8839200" y="3302000"/>
            <a:ext cx="2844800" cy="889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FE3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9017000" y="3530600"/>
            <a:ext cx="406400" cy="406400"/>
          </a:xfrm>
          <a:prstGeom prst="ellipse">
            <a:avLst/>
          </a:prstGeom>
          <a:solidFill>
            <a:srgbClr val="0B4EA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9017000" y="3594100"/>
            <a:ext cx="40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500" b="1">
                <a:solidFill>
                  <a:srgbClr val="FFFFFF"/>
                </a:solidFill>
                <a:latin typeface="Arial" panose="020B0604020202020204" pitchFamily="34" charset="0"/>
              </a:rPr>
              <a:t>01</a:t>
            </a:r>
            <a:endParaRPr lang="zh-CN" altLang="en-US" sz="15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601200" y="3441700"/>
            <a:ext cx="1905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300" b="1">
                <a:solidFill>
                  <a:srgbClr val="081A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点开徽标</a:t>
            </a:r>
            <a:endParaRPr lang="zh-CN" altLang="en-US" sz="2300" b="1">
              <a:solidFill>
                <a:srgbClr val="081A2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9601200" y="38354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>
                <a:solidFill>
                  <a:srgbClr val="29496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回到该页问答</a:t>
            </a:r>
            <a:endParaRPr lang="zh-CN" altLang="en-US">
              <a:solidFill>
                <a:srgbClr val="29496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矩形: 圆角 15"/>
          <p:cNvSpPr/>
          <p:nvPr/>
        </p:nvSpPr>
        <p:spPr>
          <a:xfrm>
            <a:off x="8839200" y="4368800"/>
            <a:ext cx="2844800" cy="889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FE3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9017000" y="4597400"/>
            <a:ext cx="406400" cy="406400"/>
          </a:xfrm>
          <a:prstGeom prst="ellipse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9017000" y="4660900"/>
            <a:ext cx="40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500" b="1">
                <a:solidFill>
                  <a:srgbClr val="FFFFFF"/>
                </a:solidFill>
                <a:latin typeface="Arial" panose="020B0604020202020204" pitchFamily="34" charset="0"/>
              </a:rPr>
              <a:t>02</a:t>
            </a:r>
            <a:endParaRPr lang="zh-CN" altLang="en-US" sz="15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601200" y="4508500"/>
            <a:ext cx="1905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300" b="1">
                <a:solidFill>
                  <a:srgbClr val="081A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问答留痕</a:t>
            </a:r>
            <a:endParaRPr lang="zh-CN" altLang="en-US" sz="2300" b="1">
              <a:solidFill>
                <a:srgbClr val="081A2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9601200" y="49022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>
                <a:solidFill>
                  <a:srgbClr val="29496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问题与回答同屏</a:t>
            </a:r>
            <a:endParaRPr lang="zh-CN" altLang="en-US">
              <a:solidFill>
                <a:srgbClr val="29496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" name="矩形: 圆角 20"/>
          <p:cNvSpPr/>
          <p:nvPr/>
        </p:nvSpPr>
        <p:spPr>
          <a:xfrm>
            <a:off x="8839200" y="5435600"/>
            <a:ext cx="2844800" cy="889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FE3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9017000" y="5664200"/>
            <a:ext cx="406400" cy="406400"/>
          </a:xfrm>
          <a:prstGeom prst="ellipse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9017000" y="5727700"/>
            <a:ext cx="40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500" b="1">
                <a:solidFill>
                  <a:srgbClr val="FFFFFF"/>
                </a:solidFill>
                <a:latin typeface="Arial" panose="020B0604020202020204" pitchFamily="34" charset="0"/>
              </a:rPr>
              <a:t>03</a:t>
            </a:r>
            <a:endParaRPr lang="zh-CN" altLang="en-US" sz="15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9601200" y="5575300"/>
            <a:ext cx="1905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300" b="1">
                <a:solidFill>
                  <a:srgbClr val="081A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教材锚定</a:t>
            </a:r>
            <a:endParaRPr lang="zh-CN" altLang="en-US" sz="2300" b="1">
              <a:solidFill>
                <a:srgbClr val="081A2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9601200" y="59690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>
                <a:solidFill>
                  <a:srgbClr val="29496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>
                <a:solidFill>
                  <a:srgbClr val="29496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87</a:t>
            </a:r>
            <a:r>
              <a:rPr lang="zh-CN" altLang="en-US">
                <a:solidFill>
                  <a:srgbClr val="29496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页上下文保留</a:t>
            </a:r>
            <a:endParaRPr lang="zh-CN" altLang="en-US">
              <a:solidFill>
                <a:srgbClr val="29496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800" y="381000"/>
            <a:ext cx="3302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500" b="1">
                <a:solidFill>
                  <a:srgbClr val="0B4EA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05 </a:t>
            </a:r>
            <a:r>
              <a:rPr lang="zh-CN" altLang="en-US" sz="2500" b="1">
                <a:solidFill>
                  <a:srgbClr val="0B4EA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关键差异</a:t>
            </a:r>
            <a:endParaRPr lang="zh-CN" altLang="en-US" sz="2500" b="1">
              <a:solidFill>
                <a:srgbClr val="0B4EA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914400"/>
            <a:ext cx="104140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3900" b="1">
                <a:solidFill>
                  <a:srgbClr val="081A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智学助手多看了什么？</a:t>
            </a:r>
            <a:endParaRPr lang="zh-CN" altLang="en-US" sz="3900" b="1">
              <a:solidFill>
                <a:srgbClr val="081A2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889000" y="2235200"/>
            <a:ext cx="3175000" cy="195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7D7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889000" y="2235200"/>
            <a:ext cx="101600" cy="1955800"/>
          </a:xfrm>
          <a:prstGeom prst="rect">
            <a:avLst/>
          </a:prstGeom>
          <a:solidFill>
            <a:srgbClr val="0B4EA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219200" y="2514600"/>
            <a:ext cx="2641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>
                <a:solidFill>
                  <a:srgbClr val="081A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教材页</a:t>
            </a:r>
            <a:endParaRPr lang="zh-CN" altLang="en-US" sz="2800" b="1">
              <a:solidFill>
                <a:srgbClr val="081A2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19200" y="3124200"/>
            <a:ext cx="26416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700">
                <a:solidFill>
                  <a:srgbClr val="29496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知道问题来自</a:t>
            </a:r>
            <a:endParaRPr lang="zh-CN" altLang="en-US" sz="2700">
              <a:solidFill>
                <a:srgbClr val="29496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700">
                <a:solidFill>
                  <a:srgbClr val="29496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哪一页、哪一段</a:t>
            </a:r>
            <a:endParaRPr lang="zh-CN" altLang="en-US" sz="2700">
              <a:solidFill>
                <a:srgbClr val="29496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4508500" y="2235200"/>
            <a:ext cx="3175000" cy="195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7D7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4508500" y="2235200"/>
            <a:ext cx="101600" cy="19558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4838700" y="2514600"/>
            <a:ext cx="2641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>
                <a:solidFill>
                  <a:srgbClr val="081A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学习痕迹</a:t>
            </a:r>
            <a:endParaRPr lang="zh-CN" altLang="en-US" sz="2800" b="1">
              <a:solidFill>
                <a:srgbClr val="081A2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838700" y="3124200"/>
            <a:ext cx="26416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700">
                <a:solidFill>
                  <a:srgbClr val="29496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保留提问位置</a:t>
            </a:r>
            <a:endParaRPr lang="zh-CN" altLang="en-US" sz="2700">
              <a:solidFill>
                <a:srgbClr val="29496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700">
                <a:solidFill>
                  <a:srgbClr val="29496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和历史对话</a:t>
            </a:r>
            <a:endParaRPr lang="zh-CN" altLang="en-US" sz="2700">
              <a:solidFill>
                <a:srgbClr val="29496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8128000" y="2235200"/>
            <a:ext cx="3175000" cy="195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7D7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8128000" y="2235200"/>
            <a:ext cx="101600" cy="19558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458200" y="2514600"/>
            <a:ext cx="2641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>
                <a:solidFill>
                  <a:srgbClr val="081A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学生状态</a:t>
            </a:r>
            <a:endParaRPr lang="zh-CN" altLang="en-US" sz="2800" b="1">
              <a:solidFill>
                <a:srgbClr val="081A2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458200" y="3124200"/>
            <a:ext cx="26416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700">
                <a:solidFill>
                  <a:srgbClr val="29496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结合画像与练习</a:t>
            </a:r>
            <a:endParaRPr lang="zh-CN" altLang="en-US" sz="2700">
              <a:solidFill>
                <a:srgbClr val="29496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700">
                <a:solidFill>
                  <a:srgbClr val="29496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决定引导方式</a:t>
            </a:r>
            <a:endParaRPr lang="zh-CN" altLang="en-US" sz="2700">
              <a:solidFill>
                <a:srgbClr val="29496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" name="矩形: 圆角 16"/>
          <p:cNvSpPr/>
          <p:nvPr/>
        </p:nvSpPr>
        <p:spPr>
          <a:xfrm>
            <a:off x="1854200" y="5207000"/>
            <a:ext cx="8483600" cy="78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CC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2260600" y="5435600"/>
            <a:ext cx="76708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2700" b="1">
                <a:solidFill>
                  <a:srgbClr val="081A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核心差异：回答之前，先理解学习现场</a:t>
            </a:r>
            <a:endParaRPr lang="zh-CN" altLang="en-US" sz="2700" b="1">
              <a:solidFill>
                <a:srgbClr val="081A2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800" y="381000"/>
            <a:ext cx="3302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500" b="1">
                <a:solidFill>
                  <a:srgbClr val="0B4EA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06 </a:t>
            </a:r>
            <a:r>
              <a:rPr lang="zh-CN" altLang="en-US" sz="2500" b="1">
                <a:solidFill>
                  <a:srgbClr val="0B4EA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页内徽标</a:t>
            </a:r>
            <a:endParaRPr lang="zh-CN" altLang="en-US" sz="2500" b="1">
              <a:solidFill>
                <a:srgbClr val="0B4EA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914400"/>
            <a:ext cx="10414000" cy="61531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4000" b="1">
                <a:solidFill>
                  <a:srgbClr val="081A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让问答回到教材，而不是散落在聊天记录里</a:t>
            </a:r>
            <a:endParaRPr lang="zh-CN" altLang="en-US" sz="4000" b="1">
              <a:solidFill>
                <a:srgbClr val="081A2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889000" y="1930400"/>
            <a:ext cx="6172200" cy="42418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9CC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9310" y="2057400"/>
            <a:ext cx="4931579" cy="39878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041400" y="6273800"/>
            <a:ext cx="5867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900">
                <a:solidFill>
                  <a:srgbClr val="29496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红色徽标记录该页提问位置</a:t>
            </a:r>
            <a:endParaRPr lang="zh-CN" altLang="en-US" sz="1900">
              <a:solidFill>
                <a:srgbClr val="29496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: 圆角 8"/>
          <p:cNvSpPr/>
          <p:nvPr>
            <p:custDataLst>
              <p:tags r:id="rId2"/>
            </p:custDataLst>
          </p:nvPr>
        </p:nvSpPr>
        <p:spPr>
          <a:xfrm>
            <a:off x="7670800" y="2133600"/>
            <a:ext cx="3505200" cy="1752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7D7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7670800" y="2133600"/>
            <a:ext cx="101600" cy="17526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8001000" y="2413000"/>
            <a:ext cx="29718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>
                <a:solidFill>
                  <a:srgbClr val="081A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为什么重要</a:t>
            </a:r>
            <a:endParaRPr lang="zh-CN" altLang="en-US" sz="2800" b="1">
              <a:solidFill>
                <a:srgbClr val="081A2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8001000" y="3022600"/>
            <a:ext cx="29718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700">
                <a:solidFill>
                  <a:srgbClr val="29496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让问题回到</a:t>
            </a:r>
            <a:endParaRPr lang="zh-CN" altLang="en-US" sz="2700">
              <a:solidFill>
                <a:srgbClr val="29496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700">
                <a:solidFill>
                  <a:srgbClr val="29496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原始教材语境</a:t>
            </a:r>
            <a:endParaRPr lang="zh-CN" altLang="en-US" sz="2700">
              <a:solidFill>
                <a:srgbClr val="29496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矩形: 圆角 12"/>
          <p:cNvSpPr/>
          <p:nvPr>
            <p:custDataLst>
              <p:tags r:id="rId6"/>
            </p:custDataLst>
          </p:nvPr>
        </p:nvSpPr>
        <p:spPr>
          <a:xfrm>
            <a:off x="7670800" y="4343400"/>
            <a:ext cx="3505200" cy="17208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7D7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>
            <p:custDataLst>
              <p:tags r:id="rId7"/>
            </p:custDataLst>
          </p:nvPr>
        </p:nvSpPr>
        <p:spPr>
          <a:xfrm>
            <a:off x="7670800" y="4343400"/>
            <a:ext cx="101600" cy="1702435"/>
          </a:xfrm>
          <a:prstGeom prst="rect">
            <a:avLst/>
          </a:prstGeom>
          <a:solidFill>
            <a:srgbClr val="0B4EA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8"/>
            </p:custDataLst>
          </p:nvPr>
        </p:nvSpPr>
        <p:spPr>
          <a:xfrm>
            <a:off x="8001000" y="4622800"/>
            <a:ext cx="29718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>
                <a:solidFill>
                  <a:srgbClr val="081A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带来的变化</a:t>
            </a:r>
            <a:endParaRPr lang="zh-CN" altLang="en-US" sz="2800" b="1">
              <a:solidFill>
                <a:srgbClr val="081A2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9"/>
            </p:custDataLst>
          </p:nvPr>
        </p:nvSpPr>
        <p:spPr>
          <a:xfrm>
            <a:off x="8001000" y="5232400"/>
            <a:ext cx="29718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700">
                <a:solidFill>
                  <a:srgbClr val="29496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聊天记录变成</a:t>
            </a:r>
            <a:endParaRPr lang="zh-CN" altLang="en-US" sz="2700">
              <a:solidFill>
                <a:srgbClr val="29496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700">
                <a:solidFill>
                  <a:srgbClr val="29496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学习痕迹</a:t>
            </a:r>
            <a:endParaRPr lang="zh-CN" altLang="en-US" sz="2700">
              <a:solidFill>
                <a:srgbClr val="29496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800" y="381000"/>
            <a:ext cx="3302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500" b="1">
                <a:solidFill>
                  <a:srgbClr val="0B4EA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07 </a:t>
            </a:r>
            <a:r>
              <a:rPr lang="zh-CN" altLang="en-US" sz="2500" b="1">
                <a:solidFill>
                  <a:srgbClr val="0B4EA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学习画像</a:t>
            </a:r>
            <a:endParaRPr lang="zh-CN" altLang="en-US" sz="2500" b="1">
              <a:solidFill>
                <a:srgbClr val="0B4EA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914400"/>
            <a:ext cx="104140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3900" b="1">
                <a:solidFill>
                  <a:srgbClr val="081A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同一个问题，不给同一种引导</a:t>
            </a:r>
            <a:endParaRPr lang="zh-CN" altLang="en-US" sz="3900" b="1">
              <a:solidFill>
                <a:srgbClr val="081A2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660400" y="1905000"/>
            <a:ext cx="4546600" cy="39878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9CC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259" y="2032000"/>
            <a:ext cx="3950881" cy="37338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812800" y="6223000"/>
            <a:ext cx="42672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>
                <a:solidFill>
                  <a:srgbClr val="29496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实机画像面板：雷达、薄弱点、知识图谱来自同一条学习证据链</a:t>
            </a:r>
            <a:endParaRPr lang="zh-CN" altLang="en-US">
              <a:solidFill>
                <a:srgbClr val="29496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892800" y="1803400"/>
            <a:ext cx="2921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081A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画像如何形成</a:t>
            </a:r>
            <a:endParaRPr lang="zh-CN" altLang="en-US" sz="2700" b="1">
              <a:solidFill>
                <a:srgbClr val="081A2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5867400" y="2362200"/>
            <a:ext cx="4953000" cy="787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FE3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6045200" y="2590800"/>
            <a:ext cx="406400" cy="406400"/>
          </a:xfrm>
          <a:prstGeom prst="ellipse">
            <a:avLst/>
          </a:prstGeom>
          <a:solidFill>
            <a:srgbClr val="0B4EA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6045200" y="2654300"/>
            <a:ext cx="40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500" b="1">
                <a:solidFill>
                  <a:srgbClr val="FFFFFF"/>
                </a:solidFill>
                <a:latin typeface="Arial" panose="020B0604020202020204" pitchFamily="34" charset="0"/>
              </a:rPr>
              <a:t>01</a:t>
            </a:r>
            <a:endParaRPr lang="zh-CN" altLang="en-US" sz="15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629400" y="2501900"/>
            <a:ext cx="40132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300" b="1">
                <a:solidFill>
                  <a:srgbClr val="081A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学习行为</a:t>
            </a:r>
            <a:endParaRPr lang="zh-CN" altLang="en-US" sz="2300" b="1">
              <a:solidFill>
                <a:srgbClr val="081A2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629400" y="2895600"/>
            <a:ext cx="4013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>
                <a:solidFill>
                  <a:srgbClr val="29496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教材页提问 </a:t>
            </a:r>
            <a:r>
              <a:rPr lang="en-US" altLang="zh-CN">
                <a:solidFill>
                  <a:srgbClr val="29496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 </a:t>
            </a:r>
            <a:r>
              <a:rPr lang="zh-CN" altLang="en-US">
                <a:solidFill>
                  <a:srgbClr val="29496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徽标问答 </a:t>
            </a:r>
            <a:r>
              <a:rPr lang="en-US" altLang="zh-CN">
                <a:solidFill>
                  <a:srgbClr val="29496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 </a:t>
            </a:r>
            <a:r>
              <a:rPr lang="zh-CN" altLang="en-US">
                <a:solidFill>
                  <a:srgbClr val="29496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练习作答</a:t>
            </a:r>
            <a:endParaRPr lang="zh-CN" altLang="en-US">
              <a:solidFill>
                <a:srgbClr val="29496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5867400" y="3302000"/>
            <a:ext cx="4953000" cy="787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FE3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6045200" y="3530600"/>
            <a:ext cx="406400" cy="406400"/>
          </a:xfrm>
          <a:prstGeom prst="ellipse">
            <a:avLst/>
          </a:prstGeom>
          <a:solidFill>
            <a:srgbClr val="1677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6045200" y="3594100"/>
            <a:ext cx="40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500" b="1">
                <a:solidFill>
                  <a:srgbClr val="FFFFFF"/>
                </a:solidFill>
                <a:latin typeface="Arial" panose="020B0604020202020204" pitchFamily="34" charset="0"/>
              </a:rPr>
              <a:t>02</a:t>
            </a:r>
            <a:endParaRPr lang="zh-CN" altLang="en-US" sz="15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629400" y="3441700"/>
            <a:ext cx="40132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300" b="1">
                <a:solidFill>
                  <a:srgbClr val="081A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场景绑定</a:t>
            </a:r>
            <a:endParaRPr lang="zh-CN" altLang="en-US" sz="2300" b="1">
              <a:solidFill>
                <a:srgbClr val="081A2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629400" y="3835400"/>
            <a:ext cx="4013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>
                <a:solidFill>
                  <a:srgbClr val="29496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同步记录页码、章节与知识点</a:t>
            </a:r>
            <a:endParaRPr lang="zh-CN" altLang="en-US">
              <a:solidFill>
                <a:srgbClr val="29496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" name="矩形: 圆角 19"/>
          <p:cNvSpPr/>
          <p:nvPr/>
        </p:nvSpPr>
        <p:spPr>
          <a:xfrm>
            <a:off x="5867400" y="4241800"/>
            <a:ext cx="4953000" cy="787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FE3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6045200" y="4470400"/>
            <a:ext cx="406400" cy="406400"/>
          </a:xfrm>
          <a:prstGeom prst="ellipse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6045200" y="4533900"/>
            <a:ext cx="40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500" b="1">
                <a:solidFill>
                  <a:srgbClr val="FFFFFF"/>
                </a:solidFill>
                <a:latin typeface="Arial" panose="020B0604020202020204" pitchFamily="34" charset="0"/>
              </a:rPr>
              <a:t>03</a:t>
            </a:r>
            <a:endParaRPr lang="zh-CN" altLang="en-US" sz="15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629400" y="4381500"/>
            <a:ext cx="40132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300" b="1">
                <a:solidFill>
                  <a:srgbClr val="081A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结构化诊断</a:t>
            </a:r>
            <a:endParaRPr lang="zh-CN" altLang="en-US" sz="2300" b="1">
              <a:solidFill>
                <a:srgbClr val="081A2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629400" y="4775200"/>
            <a:ext cx="4013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>
                <a:solidFill>
                  <a:srgbClr val="29496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输出薄弱点与 </a:t>
            </a:r>
            <a:r>
              <a:rPr lang="en-US" altLang="zh-CN">
                <a:solidFill>
                  <a:srgbClr val="29496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>
                <a:solidFill>
                  <a:srgbClr val="29496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维</a:t>
            </a:r>
            <a:r>
              <a:rPr lang="en-US" altLang="zh-CN">
                <a:solidFill>
                  <a:srgbClr val="29496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×3</a:t>
            </a:r>
            <a:r>
              <a:rPr lang="zh-CN" altLang="en-US">
                <a:solidFill>
                  <a:srgbClr val="29496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指标变化</a:t>
            </a:r>
            <a:endParaRPr lang="zh-CN" altLang="en-US">
              <a:solidFill>
                <a:srgbClr val="29496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矩形: 圆角 24"/>
          <p:cNvSpPr/>
          <p:nvPr/>
        </p:nvSpPr>
        <p:spPr>
          <a:xfrm>
            <a:off x="5867400" y="5181600"/>
            <a:ext cx="4953000" cy="787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FE3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/>
          <p:cNvSpPr/>
          <p:nvPr/>
        </p:nvSpPr>
        <p:spPr>
          <a:xfrm>
            <a:off x="6045200" y="5410200"/>
            <a:ext cx="406400" cy="406400"/>
          </a:xfrm>
          <a:prstGeom prst="ellipse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6045200" y="5473700"/>
            <a:ext cx="406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500" b="1">
                <a:solidFill>
                  <a:srgbClr val="FFFFFF"/>
                </a:solidFill>
                <a:latin typeface="Arial" panose="020B0604020202020204" pitchFamily="34" charset="0"/>
              </a:rPr>
              <a:t>04</a:t>
            </a:r>
            <a:endParaRPr lang="zh-CN" altLang="en-US" sz="15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629400" y="5321300"/>
            <a:ext cx="40132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300" b="1">
                <a:solidFill>
                  <a:srgbClr val="081A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画像更新</a:t>
            </a:r>
            <a:endParaRPr lang="zh-CN" altLang="en-US" sz="2300" b="1">
              <a:solidFill>
                <a:srgbClr val="081A2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629400" y="5715000"/>
            <a:ext cx="4013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>
                <a:solidFill>
                  <a:srgbClr val="29496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生成雷达、知识阶段与知识图谱</a:t>
            </a:r>
            <a:endParaRPr lang="zh-CN" altLang="en-US">
              <a:solidFill>
                <a:srgbClr val="29496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8343900" y="3149600"/>
            <a:ext cx="0" cy="152400"/>
          </a:xfrm>
          <a:prstGeom prst="line">
            <a:avLst/>
          </a:prstGeom>
          <a:ln w="25400">
            <a:solidFill>
              <a:srgbClr val="1677D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8343900" y="4089400"/>
            <a:ext cx="0" cy="152400"/>
          </a:xfrm>
          <a:prstGeom prst="line">
            <a:avLst/>
          </a:prstGeom>
          <a:ln w="25400">
            <a:solidFill>
              <a:srgbClr val="1677D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8343900" y="5029200"/>
            <a:ext cx="0" cy="152400"/>
          </a:xfrm>
          <a:prstGeom prst="line">
            <a:avLst/>
          </a:prstGeom>
          <a:ln w="25400">
            <a:solidFill>
              <a:srgbClr val="1677D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: 圆角 32"/>
          <p:cNvSpPr/>
          <p:nvPr/>
        </p:nvSpPr>
        <p:spPr>
          <a:xfrm>
            <a:off x="5689600" y="6299200"/>
            <a:ext cx="5511800" cy="381000"/>
          </a:xfrm>
          <a:prstGeom prst="roundRect">
            <a:avLst/>
          </a:prstGeom>
          <a:solidFill>
            <a:srgbClr val="FFF7D6"/>
          </a:solidFill>
          <a:ln w="15240">
            <a:solidFill>
              <a:srgbClr val="F6B7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5867400" y="6388100"/>
            <a:ext cx="5156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b="1">
                <a:solidFill>
                  <a:srgbClr val="9A4B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画像反哺下一轮：决定示范、追问、提示还是放手</a:t>
            </a:r>
            <a:endParaRPr lang="zh-CN" altLang="en-US" b="1">
              <a:solidFill>
                <a:srgbClr val="9A4B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800" y="381000"/>
            <a:ext cx="3302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500" b="1">
                <a:solidFill>
                  <a:srgbClr val="0B4EA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08 </a:t>
            </a:r>
            <a:r>
              <a:rPr lang="zh-CN" altLang="en-US" sz="2500" b="1">
                <a:solidFill>
                  <a:srgbClr val="0B4EA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分步引导</a:t>
            </a:r>
            <a:endParaRPr lang="zh-CN" altLang="en-US" sz="2500" b="1">
              <a:solidFill>
                <a:srgbClr val="0B4EA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914400"/>
            <a:ext cx="104140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3900" b="1">
                <a:solidFill>
                  <a:srgbClr val="081A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画像决定引导粒度，而不是固定话术</a:t>
            </a:r>
            <a:endParaRPr lang="zh-CN" altLang="en-US" sz="3900" b="1">
              <a:solidFill>
                <a:srgbClr val="081A2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914400" y="2260600"/>
            <a:ext cx="2387600" cy="1879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7D7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914400" y="2260600"/>
            <a:ext cx="101600" cy="1879600"/>
          </a:xfrm>
          <a:prstGeom prst="rect">
            <a:avLst/>
          </a:prstGeom>
          <a:solidFill>
            <a:srgbClr val="0B4EA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244600" y="2540000"/>
            <a:ext cx="18542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>
                <a:solidFill>
                  <a:srgbClr val="081A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示范</a:t>
            </a:r>
            <a:endParaRPr lang="zh-CN" altLang="en-US" sz="2800" b="1">
              <a:solidFill>
                <a:srgbClr val="081A2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44600" y="3149600"/>
            <a:ext cx="18542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700">
                <a:solidFill>
                  <a:srgbClr val="29496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低阶段</a:t>
            </a:r>
            <a:endParaRPr lang="zh-CN" altLang="en-US" sz="2700">
              <a:solidFill>
                <a:srgbClr val="29496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700">
                <a:solidFill>
                  <a:srgbClr val="29496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先给样例</a:t>
            </a:r>
            <a:endParaRPr lang="zh-CN" altLang="en-US" sz="2700">
              <a:solidFill>
                <a:srgbClr val="29496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3581400" y="2260600"/>
            <a:ext cx="2387600" cy="1879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7D7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3581400" y="2260600"/>
            <a:ext cx="101600" cy="1879600"/>
          </a:xfrm>
          <a:prstGeom prst="rect">
            <a:avLst/>
          </a:prstGeom>
          <a:solidFill>
            <a:srgbClr val="1677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3911600" y="2540000"/>
            <a:ext cx="18542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>
                <a:solidFill>
                  <a:srgbClr val="081A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追问</a:t>
            </a:r>
            <a:endParaRPr lang="zh-CN" altLang="en-US" sz="2800" b="1">
              <a:solidFill>
                <a:srgbClr val="081A2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911600" y="3149600"/>
            <a:ext cx="18542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700">
                <a:solidFill>
                  <a:srgbClr val="29496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能跟上</a:t>
            </a:r>
            <a:endParaRPr lang="zh-CN" altLang="en-US" sz="2700">
              <a:solidFill>
                <a:srgbClr val="29496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700">
                <a:solidFill>
                  <a:srgbClr val="29496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多问一步</a:t>
            </a:r>
            <a:endParaRPr lang="zh-CN" altLang="en-US" sz="2700">
              <a:solidFill>
                <a:srgbClr val="29496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6248400" y="2260600"/>
            <a:ext cx="2387600" cy="1879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7D7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6248400" y="2260600"/>
            <a:ext cx="101600" cy="18796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6578600" y="2540000"/>
            <a:ext cx="18542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>
                <a:solidFill>
                  <a:srgbClr val="081A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提示</a:t>
            </a:r>
            <a:endParaRPr lang="zh-CN" altLang="en-US" sz="2800" b="1">
              <a:solidFill>
                <a:srgbClr val="081A2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578600" y="3149600"/>
            <a:ext cx="18542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700">
                <a:solidFill>
                  <a:srgbClr val="29496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接近掌握</a:t>
            </a:r>
            <a:endParaRPr lang="zh-CN" altLang="en-US" sz="2700">
              <a:solidFill>
                <a:srgbClr val="29496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700">
                <a:solidFill>
                  <a:srgbClr val="29496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点到为止</a:t>
            </a:r>
            <a:endParaRPr lang="zh-CN" altLang="en-US" sz="2700">
              <a:solidFill>
                <a:srgbClr val="29496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" name="矩形: 圆角 16"/>
          <p:cNvSpPr/>
          <p:nvPr/>
        </p:nvSpPr>
        <p:spPr>
          <a:xfrm>
            <a:off x="8915400" y="2260600"/>
            <a:ext cx="2387600" cy="1879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7D7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8915400" y="2260600"/>
            <a:ext cx="101600" cy="18796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9245600" y="2540000"/>
            <a:ext cx="18542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>
                <a:solidFill>
                  <a:srgbClr val="081A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放手</a:t>
            </a:r>
            <a:endParaRPr lang="zh-CN" altLang="en-US" sz="2800" b="1">
              <a:solidFill>
                <a:srgbClr val="081A2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9245600" y="3149600"/>
            <a:ext cx="18542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700">
                <a:solidFill>
                  <a:srgbClr val="29496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已熟悉</a:t>
            </a:r>
            <a:endParaRPr lang="zh-CN" altLang="en-US" sz="2700">
              <a:solidFill>
                <a:srgbClr val="29496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700">
                <a:solidFill>
                  <a:srgbClr val="29496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减少干预</a:t>
            </a:r>
            <a:endParaRPr lang="zh-CN" altLang="en-US" sz="2700">
              <a:solidFill>
                <a:srgbClr val="29496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3302000" y="3200400"/>
            <a:ext cx="279400" cy="0"/>
          </a:xfrm>
          <a:prstGeom prst="line">
            <a:avLst/>
          </a:prstGeom>
          <a:ln w="27940">
            <a:solidFill>
              <a:srgbClr val="1677D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5969000" y="3200400"/>
            <a:ext cx="279400" cy="0"/>
          </a:xfrm>
          <a:prstGeom prst="line">
            <a:avLst/>
          </a:prstGeom>
          <a:ln w="27940">
            <a:solidFill>
              <a:srgbClr val="1677D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8636000" y="3200400"/>
            <a:ext cx="279400" cy="0"/>
          </a:xfrm>
          <a:prstGeom prst="line">
            <a:avLst/>
          </a:prstGeom>
          <a:ln w="27940">
            <a:solidFill>
              <a:srgbClr val="1677D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: 圆角 23"/>
          <p:cNvSpPr/>
          <p:nvPr/>
        </p:nvSpPr>
        <p:spPr>
          <a:xfrm>
            <a:off x="2438400" y="5283200"/>
            <a:ext cx="7315200" cy="711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CC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2794000" y="5486400"/>
            <a:ext cx="6604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2300" b="1">
                <a:solidFill>
                  <a:srgbClr val="081A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画像与知识阶段共同决定：下一步该给多少帮助</a:t>
            </a:r>
            <a:endParaRPr lang="zh-CN" altLang="en-US" sz="2300" b="1">
              <a:solidFill>
                <a:srgbClr val="081A2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800" y="381000"/>
            <a:ext cx="3302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500" b="1">
                <a:solidFill>
                  <a:srgbClr val="0B4EA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09 </a:t>
            </a:r>
            <a:r>
              <a:rPr lang="zh-CN" altLang="en-US" sz="2500" b="1">
                <a:solidFill>
                  <a:srgbClr val="0B4EA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练习闭环</a:t>
            </a:r>
            <a:endParaRPr lang="zh-CN" altLang="en-US" sz="2500" b="1">
              <a:solidFill>
                <a:srgbClr val="0B4EA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914400"/>
            <a:ext cx="104140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3900" b="1">
                <a:solidFill>
                  <a:srgbClr val="081A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答疑之后，还要回到学习行为</a:t>
            </a:r>
            <a:endParaRPr lang="zh-CN" altLang="en-US" sz="3900" b="1">
              <a:solidFill>
                <a:srgbClr val="081A2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685800" y="1676400"/>
            <a:ext cx="6959600" cy="4699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9CC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112" y="1803400"/>
            <a:ext cx="4856976" cy="44450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184400" y="6451600"/>
            <a:ext cx="3962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900">
                <a:solidFill>
                  <a:srgbClr val="29496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按教材页生成的智能练习</a:t>
            </a:r>
            <a:endParaRPr lang="zh-CN" altLang="en-US" sz="1900">
              <a:solidFill>
                <a:srgbClr val="29496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8077200" y="1879600"/>
            <a:ext cx="3225800" cy="116840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B7D7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8255000" y="2057400"/>
            <a:ext cx="406400" cy="406400"/>
          </a:xfrm>
          <a:prstGeom prst="ellipse">
            <a:avLst/>
          </a:prstGeom>
          <a:solidFill>
            <a:srgbClr val="0B4EA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813800" y="2082800"/>
            <a:ext cx="23114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500" b="1">
                <a:solidFill>
                  <a:srgbClr val="081A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按页出题</a:t>
            </a:r>
            <a:endParaRPr lang="zh-CN" altLang="en-US" sz="2500" b="1">
              <a:solidFill>
                <a:srgbClr val="081A2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813800" y="2540000"/>
            <a:ext cx="2311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100">
                <a:solidFill>
                  <a:srgbClr val="29496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教材内容定范围</a:t>
            </a:r>
            <a:endParaRPr lang="zh-CN" altLang="en-US" sz="2100">
              <a:solidFill>
                <a:srgbClr val="29496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8077200" y="3352800"/>
            <a:ext cx="3225800" cy="116840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B7D7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8255000" y="3530600"/>
            <a:ext cx="406400" cy="406400"/>
          </a:xfrm>
          <a:prstGeom prst="ellipse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813800" y="3556000"/>
            <a:ext cx="23114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500" b="1">
                <a:solidFill>
                  <a:srgbClr val="081A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渐进提示</a:t>
            </a:r>
            <a:endParaRPr lang="zh-CN" altLang="en-US" sz="2500" b="1">
              <a:solidFill>
                <a:srgbClr val="081A2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813800" y="4013200"/>
            <a:ext cx="2311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100">
                <a:solidFill>
                  <a:srgbClr val="29496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先提示，不直给</a:t>
            </a:r>
            <a:endParaRPr lang="zh-CN" altLang="en-US" sz="2100">
              <a:solidFill>
                <a:srgbClr val="29496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" name="矩形: 圆角 16"/>
          <p:cNvSpPr/>
          <p:nvPr/>
        </p:nvSpPr>
        <p:spPr>
          <a:xfrm>
            <a:off x="8077200" y="4826000"/>
            <a:ext cx="3225800" cy="1401445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B7D7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8255000" y="5003800"/>
            <a:ext cx="406400" cy="406400"/>
          </a:xfrm>
          <a:prstGeom prst="ellipse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8813800" y="5029200"/>
            <a:ext cx="2311400" cy="3841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500" b="1">
                <a:solidFill>
                  <a:srgbClr val="081A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错因回</a:t>
            </a:r>
            <a:r>
              <a:rPr lang="zh-CN" altLang="en-US" sz="2500" b="1">
                <a:solidFill>
                  <a:srgbClr val="081A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测</a:t>
            </a:r>
            <a:endParaRPr lang="zh-CN" altLang="en-US" sz="2500" b="1">
              <a:solidFill>
                <a:srgbClr val="081A2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813800" y="5486400"/>
            <a:ext cx="23114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100">
                <a:solidFill>
                  <a:srgbClr val="29496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补充薄弱点</a:t>
            </a:r>
            <a:endParaRPr lang="zh-CN" altLang="en-US" sz="2100">
              <a:solidFill>
                <a:srgbClr val="29496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100">
                <a:solidFill>
                  <a:srgbClr val="29496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更新知识阶段</a:t>
            </a:r>
            <a:endParaRPr lang="zh-CN" altLang="en-US" sz="2100">
              <a:solidFill>
                <a:srgbClr val="29496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9690100" y="3048000"/>
            <a:ext cx="0" cy="304800"/>
          </a:xfrm>
          <a:prstGeom prst="line">
            <a:avLst/>
          </a:prstGeom>
          <a:ln w="25400">
            <a:solidFill>
              <a:srgbClr val="1677D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9690100" y="4521200"/>
            <a:ext cx="0" cy="304800"/>
          </a:xfrm>
          <a:prstGeom prst="line">
            <a:avLst/>
          </a:prstGeom>
          <a:ln w="25400">
            <a:solidFill>
              <a:srgbClr val="1677D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800" y="381000"/>
            <a:ext cx="3302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500" b="1">
                <a:solidFill>
                  <a:srgbClr val="0B4EA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 </a:t>
            </a:r>
            <a:r>
              <a:rPr lang="zh-CN" altLang="en-US" sz="2500" b="1">
                <a:solidFill>
                  <a:srgbClr val="0B4EA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教育意义</a:t>
            </a:r>
            <a:endParaRPr lang="zh-CN" altLang="en-US" sz="2500" b="1">
              <a:solidFill>
                <a:srgbClr val="0B4EA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914400"/>
            <a:ext cx="10414000" cy="6000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3900" b="1">
                <a:solidFill>
                  <a:srgbClr val="081A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把</a:t>
            </a:r>
            <a:r>
              <a:rPr lang="zh-CN" altLang="en-US" sz="3900" b="1">
                <a:solidFill>
                  <a:srgbClr val="081A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个性化辅导前移到学生卡住的现场</a:t>
            </a:r>
            <a:endParaRPr lang="zh-CN" altLang="en-US" sz="3900" b="1">
              <a:solidFill>
                <a:srgbClr val="081A2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914400" y="2235200"/>
            <a:ext cx="3200400" cy="203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7D7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914400" y="2235200"/>
            <a:ext cx="101600" cy="2032000"/>
          </a:xfrm>
          <a:prstGeom prst="rect">
            <a:avLst/>
          </a:prstGeom>
          <a:solidFill>
            <a:srgbClr val="0B4EA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244600" y="2514600"/>
            <a:ext cx="2667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>
                <a:solidFill>
                  <a:srgbClr val="081A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对学生</a:t>
            </a:r>
            <a:endParaRPr lang="zh-CN" altLang="en-US" sz="2800" b="1">
              <a:solidFill>
                <a:srgbClr val="081A2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44600" y="3124200"/>
            <a:ext cx="26670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700">
                <a:solidFill>
                  <a:srgbClr val="29496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当场获得下一步</a:t>
            </a:r>
            <a:endParaRPr lang="zh-CN" altLang="en-US" sz="2700">
              <a:solidFill>
                <a:srgbClr val="29496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700">
                <a:solidFill>
                  <a:srgbClr val="29496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保留思考痕迹</a:t>
            </a:r>
            <a:endParaRPr lang="zh-CN" altLang="en-US" sz="2700">
              <a:solidFill>
                <a:srgbClr val="29496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4495800" y="2235200"/>
            <a:ext cx="3200400" cy="203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7D7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4495800" y="2235200"/>
            <a:ext cx="101600" cy="2032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4826000" y="2514600"/>
            <a:ext cx="2667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>
                <a:solidFill>
                  <a:srgbClr val="081A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对教师</a:t>
            </a:r>
            <a:endParaRPr lang="zh-CN" altLang="en-US" sz="2800" b="1">
              <a:solidFill>
                <a:srgbClr val="081A2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826000" y="3124200"/>
            <a:ext cx="26670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700">
                <a:solidFill>
                  <a:srgbClr val="29496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看到薄弱页</a:t>
            </a:r>
            <a:endParaRPr lang="zh-CN" altLang="en-US" sz="2700">
              <a:solidFill>
                <a:srgbClr val="29496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700">
                <a:solidFill>
                  <a:srgbClr val="29496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找到反复卡点</a:t>
            </a:r>
            <a:endParaRPr lang="zh-CN" altLang="en-US" sz="2700">
              <a:solidFill>
                <a:srgbClr val="29496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8077200" y="2235200"/>
            <a:ext cx="3200400" cy="203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7D7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8077200" y="2235200"/>
            <a:ext cx="101600" cy="2032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407400" y="2514600"/>
            <a:ext cx="2667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>
                <a:solidFill>
                  <a:srgbClr val="081A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对课程</a:t>
            </a:r>
            <a:endParaRPr lang="zh-CN" altLang="en-US" sz="2800" b="1">
              <a:solidFill>
                <a:srgbClr val="081A2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407400" y="3124200"/>
            <a:ext cx="26670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700">
                <a:solidFill>
                  <a:srgbClr val="29496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答疑练习反馈</a:t>
            </a:r>
            <a:endParaRPr lang="zh-CN" altLang="en-US" sz="2700">
              <a:solidFill>
                <a:srgbClr val="29496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700">
                <a:solidFill>
                  <a:srgbClr val="29496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形成数据闭环</a:t>
            </a:r>
            <a:endParaRPr lang="zh-CN" altLang="en-US" sz="2700">
              <a:solidFill>
                <a:srgbClr val="29496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" name="矩形: 圆角 16"/>
          <p:cNvSpPr/>
          <p:nvPr/>
        </p:nvSpPr>
        <p:spPr>
          <a:xfrm>
            <a:off x="1600200" y="5257800"/>
            <a:ext cx="8991600" cy="838200"/>
          </a:xfrm>
          <a:prstGeom prst="roundRect">
            <a:avLst/>
          </a:prstGeom>
          <a:solidFill>
            <a:srgbClr val="FFF7D6"/>
          </a:solidFill>
          <a:ln w="19050">
            <a:solidFill>
              <a:srgbClr val="F6B7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803400" y="5486400"/>
            <a:ext cx="8585200" cy="41529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2700" b="1">
                <a:solidFill>
                  <a:srgbClr val="9A4B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教育意义：不是替代教师，而是把陪伴规模化</a:t>
            </a:r>
            <a:endParaRPr lang="zh-CN" altLang="en-US" sz="2700" b="1">
              <a:solidFill>
                <a:srgbClr val="9A4B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406525" y="1582420"/>
            <a:ext cx="9347200" cy="184665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4000" b="1">
                <a:solidFill>
                  <a:srgbClr val="081A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让每个学生在教材页旁，</a:t>
            </a:r>
            <a:endParaRPr lang="zh-CN" altLang="en-US" sz="4000" b="1">
              <a:solidFill>
                <a:srgbClr val="081A2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4000" b="1">
                <a:solidFill>
                  <a:srgbClr val="081A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都有一个懂教材、懂知识、懂学生的 </a:t>
            </a:r>
            <a:r>
              <a:rPr lang="en-US" altLang="zh-CN" sz="4000" b="1">
                <a:solidFill>
                  <a:srgbClr val="081A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AI </a:t>
            </a:r>
            <a:r>
              <a:rPr lang="zh-CN" altLang="en-US" sz="4000" b="1">
                <a:solidFill>
                  <a:srgbClr val="081A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助教</a:t>
            </a:r>
            <a:endParaRPr lang="zh-CN" altLang="en-US" sz="4000" b="1">
              <a:solidFill>
                <a:srgbClr val="081A2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3022600" y="4368800"/>
            <a:ext cx="1828800" cy="508000"/>
          </a:xfrm>
          <a:prstGeom prst="roundRect">
            <a:avLst/>
          </a:prstGeom>
          <a:solidFill>
            <a:srgbClr val="EAF4FF"/>
          </a:solidFill>
          <a:ln w="13970">
            <a:solidFill>
              <a:srgbClr val="B7D7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149600" y="4457700"/>
            <a:ext cx="15748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2200" b="1">
                <a:solidFill>
                  <a:srgbClr val="0B4EA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教材页锚定</a:t>
            </a:r>
            <a:endParaRPr lang="zh-CN" altLang="en-US" sz="2200" b="1">
              <a:solidFill>
                <a:srgbClr val="0B4EA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5181600" y="4368800"/>
            <a:ext cx="1828800" cy="508000"/>
          </a:xfrm>
          <a:prstGeom prst="roundRect">
            <a:avLst/>
          </a:prstGeom>
          <a:solidFill>
            <a:srgbClr val="FFF7D6"/>
          </a:solidFill>
          <a:ln w="13970">
            <a:solidFill>
              <a:srgbClr val="B7D7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308600" y="4457700"/>
            <a:ext cx="15748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2200" b="1">
                <a:solidFill>
                  <a:srgbClr val="9A4B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画像驱动</a:t>
            </a:r>
            <a:endParaRPr lang="zh-CN" altLang="en-US" sz="2200" b="1">
              <a:solidFill>
                <a:srgbClr val="9A4B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7340600" y="4368800"/>
            <a:ext cx="1828800" cy="508000"/>
          </a:xfrm>
          <a:prstGeom prst="roundRect">
            <a:avLst/>
          </a:prstGeom>
          <a:solidFill>
            <a:srgbClr val="EAFBF7"/>
          </a:solidFill>
          <a:ln w="13970">
            <a:solidFill>
              <a:srgbClr val="B7D7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7467600" y="4457700"/>
            <a:ext cx="15748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2200" b="1">
                <a:solidFill>
                  <a:srgbClr val="0F766E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练习闭环</a:t>
            </a:r>
            <a:endParaRPr lang="zh-CN" altLang="en-US" sz="2200" b="1">
              <a:solidFill>
                <a:srgbClr val="0F766E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454400" y="5613400"/>
            <a:ext cx="52832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3000" b="1">
                <a:solidFill>
                  <a:srgbClr val="081A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谢谢各位老师，欢迎提问</a:t>
            </a:r>
            <a:endParaRPr lang="zh-CN" altLang="en-US" sz="3000" b="1">
              <a:solidFill>
                <a:srgbClr val="081A2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72,&quot;left&quot;:62,&quot;top&quot;:178,&quot;width&quot;:836}"/>
</p:tagLst>
</file>

<file path=ppt/tags/tag2.xml><?xml version="1.0" encoding="utf-8"?>
<p:tagLst xmlns:p="http://schemas.openxmlformats.org/presentationml/2006/main">
  <p:tag name="KSO_WM_DIAGRAM_VIRTUALLY_FRAME" val="{&quot;height&quot;:172,&quot;left&quot;:62,&quot;top&quot;:178,&quot;width&quot;:836}"/>
</p:tagLst>
</file>

<file path=ppt/tags/tag3.xml><?xml version="1.0" encoding="utf-8"?>
<p:tagLst xmlns:p="http://schemas.openxmlformats.org/presentationml/2006/main">
  <p:tag name="KSO_WM_DIAGRAM_VIRTUALLY_FRAME" val="{&quot;height&quot;:172,&quot;left&quot;:62,&quot;top&quot;:178,&quot;width&quot;:836}"/>
</p:tagLst>
</file>

<file path=ppt/tags/tag4.xml><?xml version="1.0" encoding="utf-8"?>
<p:tagLst xmlns:p="http://schemas.openxmlformats.org/presentationml/2006/main">
  <p:tag name="KSO_WM_DIAGRAM_VIRTUALLY_FRAME" val="{&quot;height&quot;:172,&quot;left&quot;:62,&quot;top&quot;:178,&quot;width&quot;:836}"/>
</p:tagLst>
</file>

<file path=ppt/tags/tag5.xml><?xml version="1.0" encoding="utf-8"?>
<p:tagLst xmlns:p="http://schemas.openxmlformats.org/presentationml/2006/main">
  <p:tag name="KSO_WM_DIAGRAM_VIRTUALLY_FRAME" val="{&quot;height&quot;:172,&quot;left&quot;:62,&quot;top&quot;:178,&quot;width&quot;:836}"/>
</p:tagLst>
</file>

<file path=ppt/tags/tag6.xml><?xml version="1.0" encoding="utf-8"?>
<p:tagLst xmlns:p="http://schemas.openxmlformats.org/presentationml/2006/main">
  <p:tag name="KSO_WM_DIAGRAM_VIRTUALLY_FRAME" val="{&quot;height&quot;:172,&quot;left&quot;:62,&quot;top&quot;:178,&quot;width&quot;:836}"/>
</p:tagLst>
</file>

<file path=ppt/tags/tag7.xml><?xml version="1.0" encoding="utf-8"?>
<p:tagLst xmlns:p="http://schemas.openxmlformats.org/presentationml/2006/main">
  <p:tag name="KSO_WM_DIAGRAM_VIRTUALLY_FRAME" val="{&quot;height&quot;:172,&quot;left&quot;:62,&quot;top&quot;:178,&quot;width&quot;:836}"/>
</p:tagLst>
</file>

<file path=ppt/tags/tag8.xml><?xml version="1.0" encoding="utf-8"?>
<p:tagLst xmlns:p="http://schemas.openxmlformats.org/presentationml/2006/main">
  <p:tag name="KSO_WM_DIAGRAM_VIRTUALLY_FRAME" val="{&quot;height&quot;:172,&quot;left&quot;:62,&quot;top&quot;:178,&quot;width&quot;:836}"/>
</p:tagLst>
</file>

<file path=ppt/tags/tag9.xml><?xml version="1.0" encoding="utf-8"?>
<p:tagLst xmlns:p="http://schemas.openxmlformats.org/presentationml/2006/main">
  <p:tag name="KSO_WM_DIAGRAM_VIRTUALLY_FRAME" val="{&quot;height&quot;:172,&quot;left&quot;:62,&quot;top&quot;:178,&quot;width&quot;:836}"/>
</p:tagLst>
</file>

<file path=ppt/tags/tag10.xml><?xml version="1.0" encoding="utf-8"?>
<p:tagLst xmlns:p="http://schemas.openxmlformats.org/presentationml/2006/main">
  <p:tag name="KSO_WM_DIAGRAM_VIRTUALLY_FRAME" val="{&quot;height&quot;:172,&quot;left&quot;:62,&quot;top&quot;:178,&quot;width&quot;:836}"/>
</p:tagLst>
</file>

<file path=ppt/tags/tag11.xml><?xml version="1.0" encoding="utf-8"?>
<p:tagLst xmlns:p="http://schemas.openxmlformats.org/presentationml/2006/main">
  <p:tag name="KSO_WM_DIAGRAM_VIRTUALLY_FRAME" val="{&quot;height&quot;:172,&quot;left&quot;:62,&quot;top&quot;:178,&quot;width&quot;:836}"/>
</p:tagLst>
</file>

<file path=ppt/tags/tag12.xml><?xml version="1.0" encoding="utf-8"?>
<p:tagLst xmlns:p="http://schemas.openxmlformats.org/presentationml/2006/main">
  <p:tag name="KSO_WM_DIAGRAM_VIRTUALLY_FRAME" val="{&quot;height&quot;:172,&quot;left&quot;:62,&quot;top&quot;:178,&quot;width&quot;:836}"/>
</p:tagLst>
</file>

<file path=ppt/tags/tag13.xml><?xml version="1.0" encoding="utf-8"?>
<p:tagLst xmlns:p="http://schemas.openxmlformats.org/presentationml/2006/main">
  <p:tag name="KSO_WM_DIAGRAM_VIRTUALLY_FRAME" val="{&quot;height&quot;:168.15,&quot;left&quot;:78,&quot;top&quot;:182,&quot;width&quot;:804}"/>
</p:tagLst>
</file>

<file path=ppt/tags/tag14.xml><?xml version="1.0" encoding="utf-8"?>
<p:tagLst xmlns:p="http://schemas.openxmlformats.org/presentationml/2006/main">
  <p:tag name="KSO_WM_DIAGRAM_VIRTUALLY_FRAME" val="{&quot;height&quot;:168.15,&quot;left&quot;:78,&quot;top&quot;:182,&quot;width&quot;:804}"/>
</p:tagLst>
</file>

<file path=ppt/tags/tag15.xml><?xml version="1.0" encoding="utf-8"?>
<p:tagLst xmlns:p="http://schemas.openxmlformats.org/presentationml/2006/main">
  <p:tag name="KSO_WM_DIAGRAM_VIRTUALLY_FRAME" val="{&quot;height&quot;:168.15,&quot;left&quot;:78,&quot;top&quot;:182,&quot;width&quot;:804}"/>
</p:tagLst>
</file>

<file path=ppt/tags/tag16.xml><?xml version="1.0" encoding="utf-8"?>
<p:tagLst xmlns:p="http://schemas.openxmlformats.org/presentationml/2006/main">
  <p:tag name="KSO_WM_DIAGRAM_VIRTUALLY_FRAME" val="{&quot;height&quot;:168.15,&quot;left&quot;:78,&quot;top&quot;:182,&quot;width&quot;:804}"/>
</p:tagLst>
</file>

<file path=ppt/tags/tag17.xml><?xml version="1.0" encoding="utf-8"?>
<p:tagLst xmlns:p="http://schemas.openxmlformats.org/presentationml/2006/main">
  <p:tag name="KSO_WM_DIAGRAM_VIRTUALLY_FRAME" val="{&quot;height&quot;:168.15,&quot;left&quot;:78,&quot;top&quot;:182,&quot;width&quot;:804}"/>
</p:tagLst>
</file>

<file path=ppt/tags/tag18.xml><?xml version="1.0" encoding="utf-8"?>
<p:tagLst xmlns:p="http://schemas.openxmlformats.org/presentationml/2006/main">
  <p:tag name="KSO_WM_DIAGRAM_VIRTUALLY_FRAME" val="{&quot;height&quot;:168.15,&quot;left&quot;:78,&quot;top&quot;:182,&quot;width&quot;:804}"/>
</p:tagLst>
</file>

<file path=ppt/tags/tag19.xml><?xml version="1.0" encoding="utf-8"?>
<p:tagLst xmlns:p="http://schemas.openxmlformats.org/presentationml/2006/main">
  <p:tag name="KSO_WM_DIAGRAM_VIRTUALLY_FRAME" val="{&quot;height&quot;:168.15,&quot;left&quot;:78,&quot;top&quot;:182,&quot;width&quot;:804}"/>
</p:tagLst>
</file>

<file path=ppt/tags/tag20.xml><?xml version="1.0" encoding="utf-8"?>
<p:tagLst xmlns:p="http://schemas.openxmlformats.org/presentationml/2006/main">
  <p:tag name="KSO_WM_DIAGRAM_VIRTUALLY_FRAME" val="{&quot;height&quot;:168.15,&quot;left&quot;:78,&quot;top&quot;:182,&quot;width&quot;:804}"/>
</p:tagLst>
</file>

<file path=ppt/tags/tag21.xml><?xml version="1.0" encoding="utf-8"?>
<p:tagLst xmlns:p="http://schemas.openxmlformats.org/presentationml/2006/main">
  <p:tag name="KSO_WM_DIAGRAM_VIRTUALLY_FRAME" val="{&quot;height&quot;:168.15,&quot;left&quot;:78,&quot;top&quot;:182,&quot;width&quot;:804}"/>
</p:tagLst>
</file>

<file path=ppt/tags/tag22.xml><?xml version="1.0" encoding="utf-8"?>
<p:tagLst xmlns:p="http://schemas.openxmlformats.org/presentationml/2006/main">
  <p:tag name="KSO_WM_DIAGRAM_VIRTUALLY_FRAME" val="{&quot;height&quot;:168.15,&quot;left&quot;:78,&quot;top&quot;:182,&quot;width&quot;:804}"/>
</p:tagLst>
</file>

<file path=ppt/tags/tag23.xml><?xml version="1.0" encoding="utf-8"?>
<p:tagLst xmlns:p="http://schemas.openxmlformats.org/presentationml/2006/main">
  <p:tag name="KSO_WM_DIAGRAM_VIRTUALLY_FRAME" val="{&quot;height&quot;:168.15,&quot;left&quot;:78,&quot;top&quot;:182,&quot;width&quot;:804}"/>
</p:tagLst>
</file>

<file path=ppt/tags/tag24.xml><?xml version="1.0" encoding="utf-8"?>
<p:tagLst xmlns:p="http://schemas.openxmlformats.org/presentationml/2006/main">
  <p:tag name="KSO_WM_DIAGRAM_VIRTUALLY_FRAME" val="{&quot;height&quot;:168.15,&quot;left&quot;:78,&quot;top&quot;:182,&quot;width&quot;:804}"/>
</p:tagLst>
</file>

<file path=ppt/tags/tag25.xml><?xml version="1.0" encoding="utf-8"?>
<p:tagLst xmlns:p="http://schemas.openxmlformats.org/presentationml/2006/main">
  <p:tag name="KSO_WM_DIAGRAM_VIRTUALLY_FRAME" val="{&quot;height&quot;:168.15,&quot;left&quot;:78,&quot;top&quot;:182,&quot;width&quot;:804}"/>
</p:tagLst>
</file>

<file path=ppt/tags/tag26.xml><?xml version="1.0" encoding="utf-8"?>
<p:tagLst xmlns:p="http://schemas.openxmlformats.org/presentationml/2006/main">
  <p:tag name="KSO_WM_DIAGRAM_VIRTUALLY_FRAME" val="{&quot;height&quot;:168.15,&quot;left&quot;:78,&quot;top&quot;:182,&quot;width&quot;:804}"/>
</p:tagLst>
</file>

<file path=ppt/tags/tag27.xml><?xml version="1.0" encoding="utf-8"?>
<p:tagLst xmlns:p="http://schemas.openxmlformats.org/presentationml/2006/main">
  <p:tag name="KSO_WM_DIAGRAM_VIRTUALLY_FRAME" val="{&quot;height&quot;:309.5,&quot;left&quot;:604,&quot;top&quot;:168,&quot;width&quot;:276}"/>
</p:tagLst>
</file>

<file path=ppt/tags/tag28.xml><?xml version="1.0" encoding="utf-8"?>
<p:tagLst xmlns:p="http://schemas.openxmlformats.org/presentationml/2006/main">
  <p:tag name="KSO_WM_DIAGRAM_VIRTUALLY_FRAME" val="{&quot;height&quot;:309.5,&quot;left&quot;:604,&quot;top&quot;:168,&quot;width&quot;:276}"/>
</p:tagLst>
</file>

<file path=ppt/tags/tag29.xml><?xml version="1.0" encoding="utf-8"?>
<p:tagLst xmlns:p="http://schemas.openxmlformats.org/presentationml/2006/main">
  <p:tag name="KSO_WM_DIAGRAM_VIRTUALLY_FRAME" val="{&quot;height&quot;:309.5,&quot;left&quot;:604,&quot;top&quot;:168,&quot;width&quot;:276}"/>
</p:tagLst>
</file>

<file path=ppt/tags/tag30.xml><?xml version="1.0" encoding="utf-8"?>
<p:tagLst xmlns:p="http://schemas.openxmlformats.org/presentationml/2006/main">
  <p:tag name="KSO_WM_DIAGRAM_VIRTUALLY_FRAME" val="{&quot;height&quot;:309.5,&quot;left&quot;:604,&quot;top&quot;:168,&quot;width&quot;:276}"/>
</p:tagLst>
</file>

<file path=ppt/tags/tag31.xml><?xml version="1.0" encoding="utf-8"?>
<p:tagLst xmlns:p="http://schemas.openxmlformats.org/presentationml/2006/main">
  <p:tag name="KSO_WM_DIAGRAM_VIRTUALLY_FRAME" val="{&quot;height&quot;:309.5,&quot;left&quot;:604,&quot;top&quot;:168,&quot;width&quot;:276}"/>
</p:tagLst>
</file>

<file path=ppt/tags/tag32.xml><?xml version="1.0" encoding="utf-8"?>
<p:tagLst xmlns:p="http://schemas.openxmlformats.org/presentationml/2006/main">
  <p:tag name="KSO_WM_DIAGRAM_VIRTUALLY_FRAME" val="{&quot;height&quot;:309.5,&quot;left&quot;:604,&quot;top&quot;:168,&quot;width&quot;:276}"/>
</p:tagLst>
</file>

<file path=ppt/tags/tag33.xml><?xml version="1.0" encoding="utf-8"?>
<p:tagLst xmlns:p="http://schemas.openxmlformats.org/presentationml/2006/main">
  <p:tag name="KSO_WM_DIAGRAM_VIRTUALLY_FRAME" val="{&quot;height&quot;:309.5,&quot;left&quot;:604,&quot;top&quot;:168,&quot;width&quot;:276}"/>
</p:tagLst>
</file>

<file path=ppt/tags/tag34.xml><?xml version="1.0" encoding="utf-8"?>
<p:tagLst xmlns:p="http://schemas.openxmlformats.org/presentationml/2006/main">
  <p:tag name="KSO_WM_DIAGRAM_VIRTUALLY_FRAME" val="{&quot;height&quot;:309.5,&quot;left&quot;:604,&quot;top&quot;:168,&quot;width&quot;:276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1015</Words>
  <Application>WPS 演示</Application>
  <PresentationFormat>自定义</PresentationFormat>
  <Paragraphs>262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宋体</vt:lpstr>
      <vt:lpstr>Wingdings</vt:lpstr>
      <vt:lpstr>等线</vt:lpstr>
      <vt:lpstr>微软雅黑</vt:lpstr>
      <vt:lpstr>Arial Unicode MS</vt:lpstr>
      <vt:lpstr>等线 Light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z</dc:creator>
  <cp:lastModifiedBy>player</cp:lastModifiedBy>
  <cp:revision>2</cp:revision>
  <dcterms:created xsi:type="dcterms:W3CDTF">2026-06-09T11:52:00Z</dcterms:created>
  <dcterms:modified xsi:type="dcterms:W3CDTF">2026-06-09T13:49:19Z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248ECF7A23B24CE0BDE89E34027695BF_12</vt:lpwstr>
  </property>
  <property fmtid="{D5CDD505-2E9C-101B-9397-08002B2CF9AE}" pid="3" name="KSOProductBuildVer">
    <vt:lpwstr>2052-12.1.0.21915</vt:lpwstr>
  </property>
</Properties>
</file>